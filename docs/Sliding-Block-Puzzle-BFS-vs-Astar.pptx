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SEMINAR COGNITIVE SYSTEMS 2  ·  BEHAVIOR CONTROL  ·  PROBLEM KS2.1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7140F"/>
                </a:solidFill>
                <a:latin typeface="Times New Roman"/>
              </a:rPr>
              <a:t>Sliding Block Puzzle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04A"/>
                </a:solidFill>
                <a:latin typeface="Times New Roman"/>
              </a:rPr>
              <a:t>Solving the 8-puzzle two ways: a blind search and a guided one. Both built from scratch, no algorithm libraries.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Uninformed:  </a:t>
            </a:r>
            <a:r>
              <a:rPr sz="1300" b="0" i="0">
                <a:solidFill>
                  <a:srgbClr val="918B82"/>
                </a:solidFill>
                <a:latin typeface="Times New Roman"/>
              </a:rPr>
              <a:t>Breadth-First Search</a:t>
            </a:r>
          </a:p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Informed:  </a:t>
            </a:r>
            <a:r>
              <a:rPr sz="1300" b="0" i="0">
                <a:solidFill>
                  <a:srgbClr val="918B82"/>
                </a:solidFill>
                <a:latin typeface="Times New Roman"/>
              </a:rPr>
              <a:t>A* with Manhattan distance</a:t>
            </a:r>
          </a:p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Language:  </a:t>
            </a:r>
            <a:r>
              <a:rPr sz="1300" b="0" i="0">
                <a:solidFill>
                  <a:srgbClr val="918B82"/>
                </a:solidFill>
                <a:latin typeface="Times New Roman"/>
              </a:rPr>
              <a:t>Python, standard library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THE PROBLEM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What we're solving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Eight numbered tiles and one blank space. Slide tiles into the blank until they're in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18B82"/>
                </a:solidFill>
                <a:latin typeface="Times New Roman"/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1031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031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319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9319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931920"/>
            <a:ext cx="876300" cy="8763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CFCBC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18B82"/>
                </a:solidFill>
                <a:latin typeface="Times New Roman"/>
              </a:rPr>
              <a:t>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03120"/>
            <a:ext cx="876300" cy="8763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CFCBC2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21031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031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0175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9319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39319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876300" cy="876300"/>
          </a:xfrm>
          <a:prstGeom prst="roundRect">
            <a:avLst>
              <a:gd name="adj" fmla="val 15000"/>
            </a:avLst>
          </a:prstGeom>
          <a:solidFill>
            <a:srgbClr val="F3F2E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7140F"/>
                </a:solidFill>
                <a:latin typeface="Times New Roman"/>
              </a:rP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1965960"/>
            <a:ext cx="3749039" cy="2926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THE PROGRAM HAS TO REPORT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Node expansions: how many states it actually looked at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Peak memory: the most states it held at once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Move count: how long the solution 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THEORY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States, moves, and the search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STATE</a:t>
            </a:r>
          </a:p>
          <a:p>
            <a:pPr algn="l"/>
            <a:r>
              <a:rPr sz="14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400" b="0" i="0">
                <a:solidFill>
                  <a:srgbClr val="55504A"/>
                </a:solidFill>
                <a:latin typeface="Times New Roman"/>
              </a:rPr>
              <a:t>One board layout, all 9 tiles, blank included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474720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EXPANSION</a:t>
            </a:r>
          </a:p>
          <a:p>
            <a:pPr algn="l"/>
            <a:r>
              <a:rPr sz="14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400" b="0" i="0">
                <a:solidFill>
                  <a:srgbClr val="55504A"/>
                </a:solidFill>
                <a:latin typeface="Times New Roman"/>
              </a:rPr>
              <a:t>Every board reachable in one slide, up to 4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74903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SEARCH TREE</a:t>
            </a:r>
          </a:p>
          <a:p>
            <a:pPr algn="l"/>
            <a:r>
              <a:rPr sz="14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400" b="0" i="0">
                <a:solidFill>
                  <a:srgbClr val="55504A"/>
                </a:solidFill>
                <a:latin typeface="Times New Roman"/>
              </a:rPr>
              <a:t>Start is the root, solving means finding a path to the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1106424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TERMS USED FROM HERE 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3794760"/>
          <a:ext cx="106070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95360"/>
              </a:tblGrid>
              <a:tr h="4229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g(n)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Moves taken so far to reach state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h(n)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Guess at how many moves are still left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f(n)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g(n) + h(n), used only by A* to rank what to try 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ALGORITHM ONE, UNINFORMED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Breadth-First Search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Checks every board one move away before trying anything two moves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438912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HOW IT MOVES THROUGH THE TREE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Start in a queue (first in, first out)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Take the state waiting longest  →  thinking...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Is it the target? Done, and it's the shortest path.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If not: look at every neighbor board, skip ones already seen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Add new ones to the back of the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737360"/>
            <a:ext cx="6400800" cy="2834640"/>
          </a:xfrm>
          <a:prstGeom prst="roundRect">
            <a:avLst>
              <a:gd name="adj" fmla="val 4500"/>
            </a:avLst>
          </a:prstGeom>
          <a:solidFill>
            <a:srgbClr val="201C16"/>
          </a:solidFill>
          <a:ln w="9525">
            <a:solidFill>
              <a:srgbClr val="201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function BFS(start, target):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queue &lt;- [start]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seen &lt;- { start }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expansions &lt;- 0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while queue is not empty: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node &lt;- queue.removeFront()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if node == target: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  return path(node), expansions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expansions &lt;- expansions + 1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for each neighbor in expand(node):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  if neighbor not in seen: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    seen.add(neighbor)</a:t>
            </a:r>
          </a:p>
          <a:p>
            <a:pPr algn="l"/>
            <a:r>
              <a:rPr sz="1200" b="0" i="0">
                <a:solidFill>
                  <a:srgbClr val="F1EDE4"/>
                </a:solidFill>
                <a:latin typeface="Consolas"/>
              </a:rPr>
              <a:t>        queue.addBack(neighbor)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709160"/>
            <a:ext cx="64008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Always finds the shortest solution, because it checks every shorter option first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Its weakness is memory: it has to hold every board at the current level all at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ALGORITHM TWO, INFORMED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A* Search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Same idea as BFS, but it always tries the board that looks closest to the goal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438912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HOW IT DECIDES WHAT TO TRY NEXT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Start in a priority list ranked by f(n)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Take the board with the lowest f(n)  →  thinking...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Is it the target? Done, and it's still the shortest path.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If not: work out g, h, and f for each neighbor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Keep it only if this route is cheaper than 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737360"/>
            <a:ext cx="6400800" cy="2834640"/>
          </a:xfrm>
          <a:prstGeom prst="roundRect">
            <a:avLst>
              <a:gd name="adj" fmla="val 4500"/>
            </a:avLst>
          </a:prstGeom>
          <a:solidFill>
            <a:srgbClr val="201C16"/>
          </a:solidFill>
          <a:ln w="9525">
            <a:solidFill>
              <a:srgbClr val="201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function A_STAR(start, target):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frontier &lt;- [(f: h(start), start)]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bestCost &lt;- { start: 0 }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expansions &lt;- 0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/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while frontier is not empty: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node &lt;- frontier.removeLowestF()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if node == target: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  return path(node), expansions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/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expansions &lt;- expansions + 1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for each neighbor in expand(node):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  cost &lt;- bestCost[node] + 1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  if cost &lt; bestCost.get(neighbor, inf):</a:t>
            </a:r>
          </a:p>
          <a:p>
            <a:pPr algn="l"/>
            <a:r>
              <a:rPr sz="1150" b="0" i="0">
                <a:solidFill>
                  <a:srgbClr val="F1EDE4"/>
                </a:solidFill>
                <a:latin typeface="Consolas"/>
              </a:rPr>
              <a:t>        f &lt;- cost + heuristic(neighbor,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709160"/>
            <a:ext cx="64008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MANHATTAN DISTANCE HEURISTIC</a:t>
            </a:r>
          </a:p>
          <a:p>
            <a:pPr algn="l"/>
            <a:r>
              <a:rPr sz="12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250" b="0" i="0">
                <a:solidFill>
                  <a:srgbClr val="55504A"/>
                </a:solidFill>
                <a:latin typeface="Times New Roman"/>
              </a:rPr>
              <a:t>For each tile, add rows + columns from home, as if it could pass through other tiles</a:t>
            </a:r>
          </a:p>
          <a:p>
            <a:pPr algn="l"/>
            <a:r>
              <a:rPr sz="12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250" b="0" i="0">
                <a:solidFill>
                  <a:srgbClr val="55504A"/>
                </a:solidFill>
                <a:latin typeface="Times New Roman"/>
              </a:rPr>
              <a:t>Never overguesses, so A* still finds the shortest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A QUICK CHECK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Can every layout be solved?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No. Only half of all 8-puzzle layouts can reach the target at 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THE RULE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Read tiles left to right, top to bottom, skip the blank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Count pairs where a bigger number comes before a smaller one: inversions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If that count is even, it can be 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94960" cy="2194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WHY THAT'S TRUE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Sliding sideways never changes the inversion count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Sliding up or down shifts the count by 2, always even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The target has zero inversions, so only even starts can reach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106424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OUR START BOARD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Reading 8 7 6 5 4 3 2 1 gives an even count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So it's solvable, matching both algorithms finding an answer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Source: inversion parity rule, Princeton COS226, MIT 6.1200J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RESULTS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What we actually measured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Same start, same target, same counters, run for real on both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74320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BFS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A*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Moves in the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same, both 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Node expansions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178,223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about 245x fewer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Peak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185,046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about 128x fewer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Time to 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1.55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0.008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about 190x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NODE EXPANSIONS, SIDE BY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54880"/>
            <a:ext cx="8229600" cy="411480"/>
          </a:xfrm>
          <a:prstGeom prst="round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773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BFS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4773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140F"/>
                </a:solidFill>
                <a:latin typeface="Times New Roman"/>
              </a:rPr>
              <a:t>178,223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349240"/>
            <a:ext cx="73152" cy="411480"/>
          </a:xfrm>
          <a:prstGeom prst="round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3675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53675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140F"/>
                </a:solidFill>
                <a:latin typeface="Times New Roman"/>
              </a:rPr>
              <a:t>726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RESULTS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The same numbers as a heatmap</a:t>
            </a:r>
          </a:p>
          <a:p>
            <a:pPr algn="l"/>
            <a:r>
              <a:rPr sz="1500" b="0" i="0">
                <a:solidFill>
                  <a:srgbClr val="55504A"/>
                </a:solidFill>
                <a:latin typeface="Times New Roman"/>
              </a:rPr>
              <a:t>Darker means it cost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18B82"/>
                </a:solidFill>
                <a:latin typeface="Times New Roman"/>
              </a:rPr>
              <a:t>BFS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737360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18B82"/>
                </a:solidFill>
                <a:latin typeface="Times New Roman"/>
              </a:rPr>
              <a:t>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Node expansions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94560"/>
            <a:ext cx="4251960" cy="731520"/>
          </a:xfrm>
          <a:prstGeom prst="roundRect">
            <a:avLst/>
          </a:prstGeom>
          <a:solidFill>
            <a:srgbClr val="A3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178,223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194560"/>
            <a:ext cx="4251960" cy="731520"/>
          </a:xfrm>
          <a:prstGeom prst="roundRect">
            <a:avLst/>
          </a:prstGeom>
          <a:solidFill>
            <a:srgbClr val="FB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A3541A"/>
                </a:solidFill>
                <a:latin typeface="Times New Roman"/>
              </a:rPr>
              <a:t>726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Peak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017520"/>
            <a:ext cx="4251960" cy="731520"/>
          </a:xfrm>
          <a:prstGeom prst="roundRect">
            <a:avLst/>
          </a:prstGeom>
          <a:solidFill>
            <a:srgbClr val="7A3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185,046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3017520"/>
            <a:ext cx="4251960" cy="731520"/>
          </a:xfrm>
          <a:prstGeom prst="roundRect">
            <a:avLst/>
          </a:prstGeom>
          <a:solidFill>
            <a:srgbClr val="FD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A3541A"/>
                </a:solidFill>
                <a:latin typeface="Times New Roman"/>
              </a:rPr>
              <a:t>1,444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04A"/>
                </a:solidFill>
                <a:latin typeface="Times New Roman"/>
              </a:rPr>
              <a:t>Time to solve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840480"/>
            <a:ext cx="4251960" cy="731520"/>
          </a:xfrm>
          <a:prstGeom prst="roundRect">
            <a:avLst/>
          </a:prstGeom>
          <a:solidFill>
            <a:srgbClr val="C96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1.55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840480"/>
            <a:ext cx="4251960" cy="731520"/>
          </a:xfrm>
          <a:prstGeom prst="roundRect">
            <a:avLst/>
          </a:prstGeom>
          <a:solidFill>
            <a:srgbClr val="FC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A3541A"/>
                </a:solidFill>
                <a:latin typeface="Times New Roman"/>
              </a:rPr>
              <a:t>0.008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A* stays light in every row, it just doesn't need to look at as much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Both land on the same 28-move answer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The heuristic is what lets A* skip branches that clearly aren't worth trying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DISCUSSION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Why Manhattan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3474720"/>
                <a:gridCol w="228600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Heuristic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Admissible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Nodes expanded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Cost to compute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Misplaced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Highest, weak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Very cheap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Manhattan distance (used here)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4-24x fewer than misplaced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Cheap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Manhattan + linear conflict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Fewer still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More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Euclidean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Worse than Manhattan 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Cheap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Manhattan distance gives a big jump in efficiency over counting misplaced tiles, for barely any extra work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Linear conflict does a little better, but needs more bookkeeping, a reasonable next step but not needed here</a:t>
            </a:r>
          </a:p>
          <a:p>
            <a:pPr algn="l"/>
            <a:r>
              <a:rPr sz="13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50" b="0" i="0">
                <a:solidFill>
                  <a:srgbClr val="55504A"/>
                </a:solidFill>
                <a:latin typeface="Times New Roman"/>
              </a:rPr>
              <a:t>Source: NIT Rourkela thesis, UML course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DISCUSSION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How our numbers hold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THE HARDEST POSSIBLE CASE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31 moves is the worst any 8-puzzle can need, proven by checking every solvable layout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The average case is about 22 moves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Ours needs 28, a genuinely hard instance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Source: Reinefeld, full search of the 8-puzzle state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TEXTBOOK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214884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182880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Depth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Uninformed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918B82"/>
                          </a:solidFill>
                          <a:latin typeface="Times New Roman"/>
                        </a:defRPr>
                      </a:pPr>
                      <a:r>
                        <a:t>A*, Manhattan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3,473,941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too many to 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7140F"/>
                          </a:solidFill>
                          <a:latin typeface="Times New Roman"/>
                        </a:defRPr>
                      </a:pPr>
                      <a:r>
                        <a:t>1,641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3611880"/>
            <a:ext cx="5394960" cy="1280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250" b="0" i="0">
                <a:solidFill>
                  <a:srgbClr val="55504A"/>
                </a:solidFill>
                <a:latin typeface="Times New Roman"/>
              </a:rPr>
              <a:t>Our own gap, 178,223 vs 726, matches this same pattern</a:t>
            </a:r>
          </a:p>
          <a:p>
            <a:pPr algn="l"/>
            <a:r>
              <a:rPr sz="125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250" b="0" i="0">
                <a:solidFill>
                  <a:srgbClr val="55504A"/>
                </a:solidFill>
                <a:latin typeface="Times New Roman"/>
              </a:rPr>
              <a:t>Source: Russell and Norvig, Artificial Intelligence: A Modern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DISCUSSION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What we took away from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BOTH GET IT RIGHT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BFS and A* land on the same 28-move solution, A* just gets there with far less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THE HEURISTIC DOES THE THINKING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A* on its own is just a strategy, Manhattan distance is what points it toward the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MEMORY IS THE REAL COST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BFS holding 185,000 states, not just its runtime, is what would break it on a bigger puzzle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11064240" cy="2011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0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 wrap="square"/>
          <a:lstStyle/>
          <a:p>
            <a:pPr algn="l"/>
            <a:r>
              <a:rPr sz="1200" b="1" i="0">
                <a:solidFill>
                  <a:srgbClr val="918B82"/>
                </a:solidFill>
                <a:latin typeface="Times New Roman"/>
              </a:rPr>
              <a:t>A NOTE ON THE CODE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No search-algorithm libraries: the queue, priority list, and both search loops are hand-written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A seen-set for BFS and a best-known-cost map for A* stop us repeating work or looping</a:t>
            </a:r>
          </a:p>
          <a:p>
            <a:pPr algn="l"/>
            <a:r>
              <a:rPr sz="1300" b="0" i="0">
                <a:solidFill>
                  <a:srgbClr val="D9772E"/>
                </a:solidFill>
                <a:latin typeface="Times New Roman"/>
              </a:rPr>
              <a:t>•  </a:t>
            </a:r>
            <a:r>
              <a:rPr sz="1300" b="0" i="0">
                <a:solidFill>
                  <a:srgbClr val="55504A"/>
                </a:solidFill>
                <a:latin typeface="Times New Roman"/>
              </a:rPr>
              <a:t>Both share the same board and move logic, so the comparison is only about the search strategy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3541A"/>
                </a:solidFill>
                <a:latin typeface="Times New Roman"/>
              </a:rPr>
              <a:t>REFERENCES</a:t>
            </a:r>
          </a:p>
          <a:p>
            <a:pPr algn="l"/>
            <a:r>
              <a:rPr sz="2800" b="1" i="0">
                <a:solidFill>
                  <a:srgbClr val="17140F"/>
                </a:solidFill>
                <a:latin typeface="Times New Roman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18B82"/>
                </a:solidFill>
                <a:latin typeface="Times New Roman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[1] Reinefeld, A., Complete Solution of the Eight-Puzzle and the Benefit of Node Ordering in IDA*, IJCAI-93.</a:t>
            </a:r>
          </a:p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[2] Russell, S. and Norvig, P., Artificial Intelligence: A Modern Approach.</a:t>
            </a:r>
          </a:p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[3] NIT Rourkela, Analysis and Implementation of Admissible Heuristics in 8 Puzzle Problem.</a:t>
            </a:r>
          </a:p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[4] UML course project, Analyzing the A* Search Heuristics with the Solutions of the 8-Puzzle.</a:t>
            </a:r>
          </a:p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[5] Princeton COS226, 8-Puzzle assignment.</a:t>
            </a:r>
          </a:p>
          <a:p>
            <a:pPr algn="l"/>
            <a:r>
              <a:rPr sz="1400" b="0" i="0">
                <a:solidFill>
                  <a:srgbClr val="55504A"/>
                </a:solidFill>
                <a:latin typeface="Times New Roman"/>
              </a:rPr>
              <a:t>[6] MIT 6.1200J, Mathematics for Computer Science, lecture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7140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18B82"/>
                </a:solidFill>
                <a:latin typeface="Times New Roman"/>
              </a:rPr>
              <a:t>Sliding Block Puzzle, BFS vs A*, Seminar Cognitive Systems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